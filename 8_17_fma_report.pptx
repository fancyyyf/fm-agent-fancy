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7" r:id="rId2"/>
    <p:sldId id="268" r:id="rId8"/>
    <p:sldId id="26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A4C72-041B-4884-8168-6BF4E9D55D67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6CA68D-CF51-4F21-8543-81AB1EC876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111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E06B698-D7A0-4162-8AA4-71C3E90DC49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9614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1D8E9D-86D3-404C-BB4C-7B3D1AFF2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2355E-5C84-461D-A6AB-E2C838B6DAC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41F575-367A-45A5-8DFE-0634F317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E1D939-7756-4407-A37B-BA7AB045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A7B83-225C-4AC0-B7D6-1B02386C87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875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8" name="平行四边形 17"/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4445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 descr="图片包含 户外, 标牌, 黑色&#10;&#10;自动生成的说明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319056" y="766710"/>
            <a:ext cx="11568144" cy="4765791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30000"/>
              </a:lnSpc>
              <a:buFontTx/>
              <a:buBlip>
                <a:blip r:embed="rId4"/>
              </a:buBlip>
              <a:defRPr sz="2000">
                <a:solidFill>
                  <a:schemeClr val="accent2"/>
                </a:solidFill>
              </a:defRPr>
            </a:lvl1pPr>
            <a:lvl2pPr>
              <a:lnSpc>
                <a:spcPct val="130000"/>
              </a:lnSpc>
              <a:defRPr sz="2000">
                <a:solidFill>
                  <a:schemeClr val="accent2"/>
                </a:solidFill>
              </a:defRPr>
            </a:lvl2pPr>
            <a:lvl3pPr>
              <a:lnSpc>
                <a:spcPct val="130000"/>
              </a:lnSpc>
              <a:defRPr sz="1800">
                <a:solidFill>
                  <a:schemeClr val="accent2"/>
                </a:solidFill>
              </a:defRPr>
            </a:lvl3pPr>
            <a:lvl4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4pPr>
            <a:lvl5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" name="平行四边形 20"/>
          <p:cNvSpPr/>
          <p:nvPr userDrawn="1"/>
        </p:nvSpPr>
        <p:spPr>
          <a:xfrm>
            <a:off x="11428834" y="11985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平行四边形 21"/>
          <p:cNvSpPr/>
          <p:nvPr userDrawn="1"/>
        </p:nvSpPr>
        <p:spPr>
          <a:xfrm>
            <a:off x="11016782" y="32260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44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2D773D-C16C-422F-9B79-F1421CC95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2F72F1-3CA6-4D77-B22A-3AE51FD3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A40CC0-E848-49C2-B8CA-88426A0C6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2355E-5C84-461D-A6AB-E2C838B6DAC0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4257F6-DF4C-40D5-B48D-2199B128B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25BBF1-30C3-4E4A-A72B-B42943B6A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A7B83-225C-4AC0-B7D6-1B02386C87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922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标题"/>
          <p:cNvSpPr/>
          <p:nvPr/>
        </p:nvSpPr>
        <p:spPr>
          <a:xfrm>
            <a:off x="256032" y="54864"/>
            <a:ext cx="6675120" cy="329184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Arial"/>
                <a:ea typeface="微软雅黑"/>
              </a:rPr>
              <a:t>8.17 FM-Agent 周报</a:t>
            </a:r>
            <a:endParaRPr lang="zh-CN" sz="2200"/>
          </a:p>
        </p:txBody>
      </p:sp>
      <p:sp>
        <p:nvSpPr>
          <p:cNvPr id="3" name="页眉标签"/>
          <p:cNvSpPr/>
          <p:nvPr/>
        </p:nvSpPr>
        <p:spPr>
          <a:xfrm>
            <a:off x="9464040" y="7315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r"/>
            <a:r>
              <a:rPr lang="zh-CN" sz="1100" b="1">
                <a:solidFill>
                  <a:srgbClr val="FFFFFF"/>
                </a:solidFill>
                <a:latin typeface="Arial"/>
                <a:ea typeface="微软雅黑"/>
              </a:rPr>
              <a:t>WEEKLY UPDATE</a:t>
            </a:r>
            <a:endParaRPr lang="zh-CN" sz="1100"/>
          </a:p>
        </p:txBody>
      </p:sp>
      <p:sp>
        <p:nvSpPr>
          <p:cNvPr id="4" name="主结论"/>
          <p:cNvSpPr/>
          <p:nvPr/>
        </p:nvSpPr>
        <p:spPr>
          <a:xfrm>
            <a:off x="438912" y="704088"/>
            <a:ext cx="11292840" cy="512064"/>
          </a:xfrm>
          <a:prstGeom prst="rect">
            <a:avLst/>
          </a:prstGeom>
          <a:noFill/>
          <a:ln>
            <a:noFill/>
          </a:ln>
        </p:spPr>
        <p:txBody>
          <a:bodyPr lIns="18288" tIns="18288" rIns="18288" bIns="18288" anchor="ctr" wrap="square">
            <a:spAutoFit/>
          </a:bodyPr>
          <a:lstStyle/>
          <a:p>
            <a:pPr algn="l"/>
            <a:r>
              <a:rPr lang="zh-CN" sz="2800" b="1">
                <a:solidFill>
                  <a:srgbClr val="1A1F2B"/>
                </a:solidFill>
                <a:latin typeface="Arial"/>
                <a:ea typeface="微软雅黑"/>
              </a:rPr>
              <a:t>双模型复跑完成，人工复核收敛至 19 项</a:t>
            </a:r>
            <a:endParaRPr lang="zh-CN" sz="2800"/>
          </a:p>
        </p:txBody>
      </p:sp>
      <p:sp>
        <p:nvSpPr>
          <p:cNvPr id="5" name="副标题"/>
          <p:cNvSpPr/>
          <p:nvPr/>
        </p:nvSpPr>
        <p:spPr>
          <a:xfrm>
            <a:off x="457200" y="1197864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lIns="18288" tIns="18288" rIns="18288" bIns="18288" anchor="ctr" wrap="square">
            <a:spAutoFit/>
          </a:bodyPr>
          <a:lstStyle/>
          <a:p>
            <a:pPr algn="l"/>
            <a:r>
              <a:rPr lang="zh-CN" sz="1500" b="0">
                <a:solidFill>
                  <a:srgbClr val="5B6472"/>
                </a:solidFill>
                <a:latin typeface="Arial"/>
                <a:ea typeface="微软雅黑"/>
              </a:rPr>
              <a:t>本周重点：自验证结果收敛、模型差异分析、关键工作流缺陷定位</a:t>
            </a:r>
            <a:endParaRPr lang="zh-CN" sz="1500"/>
          </a:p>
        </p:txBody>
      </p:sp>
      <p:sp>
        <p:nvSpPr>
          <p:cNvPr id="6" name="指标卡1"/>
          <p:cNvSpPr/>
          <p:nvPr/>
        </p:nvSpPr>
        <p:spPr>
          <a:xfrm>
            <a:off x="457200" y="1664208"/>
            <a:ext cx="2578608" cy="118872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1E5EA"/>
            </a:solidFill>
          </a:ln>
        </p:spPr>
      </p:sp>
      <p:sp>
        <p:nvSpPr>
          <p:cNvPr id="7" name="指标色条1"/>
          <p:cNvSpPr/>
          <p:nvPr/>
        </p:nvSpPr>
        <p:spPr>
          <a:xfrm>
            <a:off x="457200" y="1664208"/>
            <a:ext cx="82296" cy="1188720"/>
          </a:xfrm>
          <a:prstGeom prst="round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8" name="指标数字1"/>
          <p:cNvSpPr/>
          <p:nvPr/>
        </p:nvSpPr>
        <p:spPr>
          <a:xfrm>
            <a:off x="658368" y="1773936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3100" b="1">
                <a:solidFill>
                  <a:srgbClr val="D62828"/>
                </a:solidFill>
                <a:latin typeface="Arial"/>
                <a:ea typeface="微软雅黑"/>
              </a:rPr>
              <a:t>457</a:t>
            </a:r>
            <a:endParaRPr lang="zh-CN" sz="3100"/>
          </a:p>
        </p:txBody>
      </p:sp>
      <p:sp>
        <p:nvSpPr>
          <p:cNvPr id="9" name="指标说明1"/>
          <p:cNvSpPr/>
          <p:nvPr/>
        </p:nvSpPr>
        <p:spPr>
          <a:xfrm>
            <a:off x="658368" y="233172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300" b="1">
                <a:solidFill>
                  <a:srgbClr val="394150"/>
                </a:solidFill>
                <a:latin typeface="Arial"/>
                <a:ea typeface="微软雅黑"/>
              </a:rPr>
              <a:t>分析函数</a:t>
            </a:r>
            <a:endParaRPr lang="zh-CN" sz="1300"/>
          </a:p>
        </p:txBody>
      </p:sp>
      <p:sp>
        <p:nvSpPr>
          <p:cNvPr id="10" name="指标卡2"/>
          <p:cNvSpPr/>
          <p:nvPr/>
        </p:nvSpPr>
        <p:spPr>
          <a:xfrm>
            <a:off x="3337560" y="1664208"/>
            <a:ext cx="2578608" cy="1188720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E1E5EA"/>
            </a:solidFill>
          </a:ln>
        </p:spPr>
      </p:sp>
      <p:sp>
        <p:nvSpPr>
          <p:cNvPr id="11" name="指标色条2"/>
          <p:cNvSpPr/>
          <p:nvPr/>
        </p:nvSpPr>
        <p:spPr>
          <a:xfrm>
            <a:off x="3337560" y="1664208"/>
            <a:ext cx="82296" cy="1188720"/>
          </a:xfrm>
          <a:prstGeom prst="round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2" name="指标数字2"/>
          <p:cNvSpPr/>
          <p:nvPr/>
        </p:nvSpPr>
        <p:spPr>
          <a:xfrm>
            <a:off x="3538728" y="1773936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3100" b="1">
                <a:solidFill>
                  <a:srgbClr val="D62828"/>
                </a:solidFill>
                <a:latin typeface="Arial"/>
                <a:ea typeface="微软雅黑"/>
              </a:rPr>
              <a:t>312</a:t>
            </a:r>
            <a:endParaRPr lang="zh-CN" sz="3100"/>
          </a:p>
        </p:txBody>
      </p:sp>
      <p:sp>
        <p:nvSpPr>
          <p:cNvPr id="13" name="指标说明2"/>
          <p:cNvSpPr/>
          <p:nvPr/>
        </p:nvSpPr>
        <p:spPr>
          <a:xfrm>
            <a:off x="3538728" y="233172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300" b="1">
                <a:solidFill>
                  <a:srgbClr val="394150"/>
                </a:solidFill>
                <a:latin typeface="Arial"/>
                <a:ea typeface="微软雅黑"/>
              </a:rPr>
              <a:t>DeepSeek MISMATCH</a:t>
            </a:r>
            <a:endParaRPr lang="zh-CN" sz="1300"/>
          </a:p>
        </p:txBody>
      </p:sp>
      <p:sp>
        <p:nvSpPr>
          <p:cNvPr id="14" name="指标卡3"/>
          <p:cNvSpPr/>
          <p:nvPr/>
        </p:nvSpPr>
        <p:spPr>
          <a:xfrm>
            <a:off x="6217920" y="1664208"/>
            <a:ext cx="2578608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1E5EA"/>
            </a:solidFill>
          </a:ln>
        </p:spPr>
      </p:sp>
      <p:sp>
        <p:nvSpPr>
          <p:cNvPr id="15" name="指标色条3"/>
          <p:cNvSpPr/>
          <p:nvPr/>
        </p:nvSpPr>
        <p:spPr>
          <a:xfrm>
            <a:off x="6217920" y="1664208"/>
            <a:ext cx="82296" cy="1188720"/>
          </a:xfrm>
          <a:prstGeom prst="roundRect">
            <a:avLst/>
          </a:prstGeom>
          <a:solidFill>
            <a:srgbClr val="2563A8"/>
          </a:solidFill>
          <a:ln>
            <a:noFill/>
          </a:ln>
        </p:spPr>
      </p:sp>
      <p:sp>
        <p:nvSpPr>
          <p:cNvPr id="16" name="指标数字3"/>
          <p:cNvSpPr/>
          <p:nvPr/>
        </p:nvSpPr>
        <p:spPr>
          <a:xfrm>
            <a:off x="6419088" y="1773936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3100" b="1">
                <a:solidFill>
                  <a:srgbClr val="2563A8"/>
                </a:solidFill>
                <a:latin typeface="Arial"/>
                <a:ea typeface="微软雅黑"/>
              </a:rPr>
              <a:t>127</a:t>
            </a:r>
            <a:endParaRPr lang="zh-CN" sz="3100"/>
          </a:p>
        </p:txBody>
      </p:sp>
      <p:sp>
        <p:nvSpPr>
          <p:cNvPr id="17" name="指标说明3"/>
          <p:cNvSpPr/>
          <p:nvPr/>
        </p:nvSpPr>
        <p:spPr>
          <a:xfrm>
            <a:off x="6419088" y="233172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300" b="1">
                <a:solidFill>
                  <a:srgbClr val="394150"/>
                </a:solidFill>
                <a:latin typeface="Arial"/>
                <a:ea typeface="微软雅黑"/>
              </a:rPr>
              <a:t>Qwen MISMATCH</a:t>
            </a:r>
            <a:endParaRPr lang="zh-CN" sz="1300"/>
          </a:p>
        </p:txBody>
      </p:sp>
      <p:sp>
        <p:nvSpPr>
          <p:cNvPr id="18" name="指标卡4"/>
          <p:cNvSpPr/>
          <p:nvPr/>
        </p:nvSpPr>
        <p:spPr>
          <a:xfrm>
            <a:off x="9098280" y="1664208"/>
            <a:ext cx="2578608" cy="1188720"/>
          </a:xfrm>
          <a:prstGeom prst="roundRect">
            <a:avLst/>
          </a:prstGeom>
          <a:solidFill>
            <a:srgbClr val="F4F8F3"/>
          </a:solidFill>
          <a:ln w="12700">
            <a:solidFill>
              <a:srgbClr val="E1E5EA"/>
            </a:solidFill>
          </a:ln>
        </p:spPr>
      </p:sp>
      <p:sp>
        <p:nvSpPr>
          <p:cNvPr id="19" name="指标色条4"/>
          <p:cNvSpPr/>
          <p:nvPr/>
        </p:nvSpPr>
        <p:spPr>
          <a:xfrm>
            <a:off x="9098280" y="1664208"/>
            <a:ext cx="82296" cy="1188720"/>
          </a:xfrm>
          <a:prstGeom prst="roundRect">
            <a:avLst/>
          </a:prstGeom>
          <a:solidFill>
            <a:srgbClr val="2F7D32"/>
          </a:solidFill>
          <a:ln>
            <a:noFill/>
          </a:ln>
        </p:spPr>
      </p:sp>
      <p:sp>
        <p:nvSpPr>
          <p:cNvPr id="20" name="指标数字4"/>
          <p:cNvSpPr/>
          <p:nvPr/>
        </p:nvSpPr>
        <p:spPr>
          <a:xfrm>
            <a:off x="9299448" y="1773936"/>
            <a:ext cx="2103120" cy="53035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3100" b="1">
                <a:solidFill>
                  <a:srgbClr val="2F7D32"/>
                </a:solidFill>
                <a:latin typeface="Arial"/>
                <a:ea typeface="微软雅黑"/>
              </a:rPr>
              <a:t>19</a:t>
            </a:r>
            <a:endParaRPr lang="zh-CN" sz="3100"/>
          </a:p>
        </p:txBody>
      </p:sp>
      <p:sp>
        <p:nvSpPr>
          <p:cNvPr id="21" name="指标说明4"/>
          <p:cNvSpPr/>
          <p:nvPr/>
        </p:nvSpPr>
        <p:spPr>
          <a:xfrm>
            <a:off x="9299448" y="233172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300" b="1">
                <a:solidFill>
                  <a:srgbClr val="394150"/>
                </a:solidFill>
                <a:latin typeface="Arial"/>
                <a:ea typeface="微软雅黑"/>
              </a:rPr>
              <a:t>人工复核保留</a:t>
            </a:r>
            <a:endParaRPr lang="zh-CN" sz="1300"/>
          </a:p>
        </p:txBody>
      </p:sp>
      <p:sp>
        <p:nvSpPr>
          <p:cNvPr id="22" name="核心结果底框"/>
          <p:cNvSpPr/>
          <p:nvPr/>
        </p:nvSpPr>
        <p:spPr>
          <a:xfrm>
            <a:off x="457200" y="3136392"/>
            <a:ext cx="11018520" cy="84124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2C7C7"/>
            </a:solidFill>
          </a:ln>
        </p:spPr>
      </p:sp>
      <p:sp>
        <p:nvSpPr>
          <p:cNvPr id="23" name="核心结果标签"/>
          <p:cNvSpPr/>
          <p:nvPr/>
        </p:nvSpPr>
        <p:spPr>
          <a:xfrm>
            <a:off x="658368" y="3300984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400" b="1">
                <a:solidFill>
                  <a:srgbClr val="D62828"/>
                </a:solidFill>
                <a:latin typeface="Arial"/>
                <a:ea typeface="微软雅黑"/>
              </a:rPr>
              <a:t>核心结果</a:t>
            </a:r>
            <a:endParaRPr lang="zh-CN" sz="1400"/>
          </a:p>
        </p:txBody>
      </p:sp>
      <p:sp>
        <p:nvSpPr>
          <p:cNvPr id="24" name="核心结果文本"/>
          <p:cNvSpPr/>
          <p:nvPr/>
        </p:nvSpPr>
        <p:spPr>
          <a:xfrm>
            <a:off x="1719072" y="3218688"/>
            <a:ext cx="9372600" cy="475488"/>
          </a:xfrm>
          <a:prstGeom prst="rect">
            <a:avLst/>
          </a:prstGeom>
          <a:noFill/>
          <a:ln>
            <a:noFill/>
          </a:ln>
        </p:spPr>
        <p:txBody>
          <a:bodyPr lIns="18288" tIns="18288" rIns="18288" bIns="18288" anchor="ctr" wrap="square">
            <a:spAutoFit/>
          </a:bodyPr>
          <a:lstStyle/>
          <a:p>
            <a:pPr algn="l"/>
            <a:r>
              <a:rPr lang="zh-CN" sz="1700" b="1">
                <a:solidFill>
                  <a:srgbClr val="2B313C"/>
                </a:solidFill>
                <a:latin typeface="Arial"/>
                <a:ea typeface="微软雅黑"/>
              </a:rPr>
              <a:t>模型显著改变 MISMATCH 数量；可信结论仍依赖 SPEC 来源、反例可达性与人工复核。</a:t>
            </a:r>
            <a:endParaRPr lang="zh-CN" sz="1700"/>
          </a:p>
        </p:txBody>
      </p:sp>
      <p:sp>
        <p:nvSpPr>
          <p:cNvPr id="25" name="本周交付标题"/>
          <p:cNvSpPr/>
          <p:nvPr/>
        </p:nvSpPr>
        <p:spPr>
          <a:xfrm>
            <a:off x="457200" y="4315968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700" b="1">
                <a:solidFill>
                  <a:srgbClr val="1A1F2B"/>
                </a:solidFill>
                <a:latin typeface="Arial"/>
                <a:ea typeface="微软雅黑"/>
              </a:rPr>
              <a:t>本周完成</a:t>
            </a:r>
            <a:endParaRPr lang="zh-CN" sz="1700"/>
          </a:p>
        </p:txBody>
      </p:sp>
      <p:sp>
        <p:nvSpPr>
          <p:cNvPr id="26" name="序号1"/>
          <p:cNvSpPr/>
          <p:nvPr/>
        </p:nvSpPr>
        <p:spPr>
          <a:xfrm>
            <a:off x="475488" y="4718304"/>
            <a:ext cx="411480" cy="310896"/>
          </a:xfrm>
          <a:prstGeom prst="roundRect">
            <a:avLst/>
          </a:prstGeom>
          <a:solidFill>
            <a:srgbClr val="D62828"/>
          </a:solidFill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Arial"/>
                <a:ea typeface="微软雅黑"/>
              </a:rPr>
              <a:t>01</a:t>
            </a:r>
            <a:endParaRPr lang="zh-CN" sz="1100"/>
          </a:p>
        </p:txBody>
      </p:sp>
      <p:sp>
        <p:nvSpPr>
          <p:cNvPr id="27" name="交付1"/>
          <p:cNvSpPr/>
          <p:nvPr/>
        </p:nvSpPr>
        <p:spPr>
          <a:xfrm>
            <a:off x="987552" y="4709160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500" b="0">
                <a:solidFill>
                  <a:srgbClr val="303744"/>
                </a:solidFill>
                <a:latin typeface="Arial"/>
                <a:ea typeface="微软雅黑"/>
              </a:rPr>
              <a:t>完成 DeepSeek / Qwen 同基线复跑与 verdict 转移统计</a:t>
            </a:r>
            <a:endParaRPr lang="zh-CN" sz="1500"/>
          </a:p>
        </p:txBody>
      </p:sp>
      <p:sp>
        <p:nvSpPr>
          <p:cNvPr id="28" name="序号2"/>
          <p:cNvSpPr/>
          <p:nvPr/>
        </p:nvSpPr>
        <p:spPr>
          <a:xfrm>
            <a:off x="475488" y="5193792"/>
            <a:ext cx="411480" cy="310896"/>
          </a:xfrm>
          <a:prstGeom prst="roundRect">
            <a:avLst/>
          </a:prstGeom>
          <a:solidFill>
            <a:srgbClr val="D62828"/>
          </a:solidFill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Arial"/>
                <a:ea typeface="微软雅黑"/>
              </a:rPr>
              <a:t>02</a:t>
            </a:r>
            <a:endParaRPr lang="zh-CN" sz="1100"/>
          </a:p>
        </p:txBody>
      </p:sp>
      <p:sp>
        <p:nvSpPr>
          <p:cNvPr id="29" name="交付2"/>
          <p:cNvSpPr/>
          <p:nvPr/>
        </p:nvSpPr>
        <p:spPr>
          <a:xfrm>
            <a:off x="987552" y="5184648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500" b="0">
                <a:solidFill>
                  <a:srgbClr val="303744"/>
                </a:solidFill>
                <a:latin typeface="Arial"/>
                <a:ea typeface="微软雅黑"/>
              </a:rPr>
              <a:t>完成 19 项差异复核，定位 18 项实现缺陷与 1 项待确认</a:t>
            </a:r>
            <a:endParaRPr lang="zh-CN" sz="1500"/>
          </a:p>
        </p:txBody>
      </p:sp>
      <p:sp>
        <p:nvSpPr>
          <p:cNvPr id="30" name="序号3"/>
          <p:cNvSpPr/>
          <p:nvPr/>
        </p:nvSpPr>
        <p:spPr>
          <a:xfrm>
            <a:off x="475488" y="5669280"/>
            <a:ext cx="411480" cy="310896"/>
          </a:xfrm>
          <a:prstGeom prst="roundRect">
            <a:avLst/>
          </a:prstGeom>
          <a:solidFill>
            <a:srgbClr val="D62828"/>
          </a:solidFill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Arial"/>
                <a:ea typeface="微软雅黑"/>
              </a:rPr>
              <a:t>03</a:t>
            </a:r>
            <a:endParaRPr lang="zh-CN" sz="1100"/>
          </a:p>
        </p:txBody>
      </p:sp>
      <p:sp>
        <p:nvSpPr>
          <p:cNvPr id="31" name="交付3"/>
          <p:cNvSpPr/>
          <p:nvPr/>
        </p:nvSpPr>
        <p:spPr>
          <a:xfrm>
            <a:off x="987552" y="5660136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500" b="0">
                <a:solidFill>
                  <a:srgbClr val="303744"/>
                </a:solidFill>
                <a:latin typeface="Arial"/>
                <a:ea typeface="微软雅黑"/>
              </a:rPr>
              <a:t>增加 self-validation guard，阻止验证流程递归进入活动仓库</a:t>
            </a:r>
            <a:endParaRPr lang="zh-CN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标题"/>
          <p:cNvSpPr/>
          <p:nvPr/>
        </p:nvSpPr>
        <p:spPr>
          <a:xfrm>
            <a:off x="256032" y="54864"/>
            <a:ext cx="6675120" cy="329184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Arial"/>
                <a:ea typeface="微软雅黑"/>
              </a:rPr>
              <a:t>双模型对比</a:t>
            </a:r>
            <a:endParaRPr lang="zh-CN" sz="2200"/>
          </a:p>
        </p:txBody>
      </p:sp>
      <p:sp>
        <p:nvSpPr>
          <p:cNvPr id="3" name="页眉标签"/>
          <p:cNvSpPr/>
          <p:nvPr/>
        </p:nvSpPr>
        <p:spPr>
          <a:xfrm>
            <a:off x="9464040" y="7315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r"/>
            <a:r>
              <a:rPr lang="zh-CN" sz="1100" b="1">
                <a:solidFill>
                  <a:srgbClr val="FFFFFF"/>
                </a:solidFill>
                <a:latin typeface="Arial"/>
                <a:ea typeface="微软雅黑"/>
              </a:rPr>
              <a:t>MODEL COMPARISON</a:t>
            </a:r>
            <a:endParaRPr lang="zh-CN" sz="1100"/>
          </a:p>
        </p:txBody>
      </p:sp>
      <p:sp>
        <p:nvSpPr>
          <p:cNvPr id="4" name="页面标题"/>
          <p:cNvSpPr/>
          <p:nvPr/>
        </p:nvSpPr>
        <p:spPr>
          <a:xfrm>
            <a:off x="438912" y="694944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lIns="18288" tIns="18288" rIns="18288" bIns="18288" anchor="ctr" wrap="square">
            <a:spAutoFit/>
          </a:bodyPr>
          <a:lstStyle/>
          <a:p>
            <a:pPr algn="l"/>
            <a:r>
              <a:rPr lang="zh-CN" sz="2700" b="1">
                <a:solidFill>
                  <a:srgbClr val="1A1F2B"/>
                </a:solidFill>
                <a:latin typeface="Arial"/>
                <a:ea typeface="微软雅黑"/>
              </a:rPr>
              <a:t>Qwen 将 MISMATCH 降低 59.3%，仍存在真实漏报</a:t>
            </a:r>
            <a:endParaRPr lang="zh-CN" sz="2700"/>
          </a:p>
        </p:txBody>
      </p:sp>
      <p:sp>
        <p:nvSpPr>
          <p:cNvPr id="5" name="页面副标题"/>
          <p:cNvSpPr/>
          <p:nvPr/>
        </p:nvSpPr>
        <p:spPr>
          <a:xfrm>
            <a:off x="457200" y="1170432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400" b="0">
                <a:solidFill>
                  <a:srgbClr val="687181"/>
                </a:solidFill>
                <a:latin typeface="Arial"/>
                <a:ea typeface="微软雅黑"/>
              </a:rPr>
              <a:t>同一基线 · 457 个函数</a:t>
            </a:r>
            <a:endParaRPr lang="zh-CN" sz="1400"/>
          </a:p>
        </p:txBody>
      </p:sp>
      <p:sp>
        <p:nvSpPr>
          <p:cNvPr id="6" name="图表标题"/>
          <p:cNvSpPr/>
          <p:nvPr/>
        </p:nvSpPr>
        <p:spPr>
          <a:xfrm>
            <a:off x="475488" y="1627632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700" b="1">
                <a:solidFill>
                  <a:srgbClr val="252B35"/>
                </a:solidFill>
                <a:latin typeface="Arial"/>
                <a:ea typeface="微软雅黑"/>
              </a:rPr>
              <a:t>MISMATCH 总量</a:t>
            </a:r>
            <a:endParaRPr lang="zh-CN" sz="1700"/>
          </a:p>
        </p:txBody>
      </p:sp>
      <p:sp>
        <p:nvSpPr>
          <p:cNvPr id="7" name="DeepSeek标签"/>
          <p:cNvSpPr/>
          <p:nvPr/>
        </p:nvSpPr>
        <p:spPr>
          <a:xfrm>
            <a:off x="475488" y="212140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r"/>
            <a:r>
              <a:rPr lang="zh-CN" sz="1400" b="1">
                <a:solidFill>
                  <a:srgbClr val="394150"/>
                </a:solidFill>
                <a:latin typeface="Arial"/>
                <a:ea typeface="微软雅黑"/>
              </a:rPr>
              <a:t>DeepSeek</a:t>
            </a:r>
            <a:endParaRPr lang="zh-CN" sz="1400"/>
          </a:p>
        </p:txBody>
      </p:sp>
      <p:sp>
        <p:nvSpPr>
          <p:cNvPr id="8" name="DeepSeek背景条"/>
          <p:cNvSpPr/>
          <p:nvPr/>
        </p:nvSpPr>
        <p:spPr>
          <a:xfrm>
            <a:off x="1572768" y="2121408"/>
            <a:ext cx="4389120" cy="347472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</p:sp>
      <p:sp>
        <p:nvSpPr>
          <p:cNvPr id="9" name="DeepSeek数据条"/>
          <p:cNvSpPr/>
          <p:nvPr/>
        </p:nvSpPr>
        <p:spPr>
          <a:xfrm>
            <a:off x="1572768" y="2121408"/>
            <a:ext cx="4389120" cy="347472"/>
          </a:xfrm>
          <a:prstGeom prst="round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0" name="DeepSeek数值"/>
          <p:cNvSpPr/>
          <p:nvPr/>
        </p:nvSpPr>
        <p:spPr>
          <a:xfrm>
            <a:off x="6089903" y="2112264"/>
            <a:ext cx="594360" cy="34747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600" b="1">
                <a:solidFill>
                  <a:srgbClr val="D62828"/>
                </a:solidFill>
                <a:latin typeface="Arial"/>
                <a:ea typeface="微软雅黑"/>
              </a:rPr>
              <a:t>312</a:t>
            </a:r>
            <a:endParaRPr lang="zh-CN" sz="1600"/>
          </a:p>
        </p:txBody>
      </p:sp>
      <p:sp>
        <p:nvSpPr>
          <p:cNvPr id="11" name="Qwen标签"/>
          <p:cNvSpPr/>
          <p:nvPr/>
        </p:nvSpPr>
        <p:spPr>
          <a:xfrm>
            <a:off x="475488" y="288950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r"/>
            <a:r>
              <a:rPr lang="zh-CN" sz="1400" b="1">
                <a:solidFill>
                  <a:srgbClr val="394150"/>
                </a:solidFill>
                <a:latin typeface="Arial"/>
                <a:ea typeface="微软雅黑"/>
              </a:rPr>
              <a:t>Qwen</a:t>
            </a:r>
            <a:endParaRPr lang="zh-CN" sz="1400"/>
          </a:p>
        </p:txBody>
      </p:sp>
      <p:sp>
        <p:nvSpPr>
          <p:cNvPr id="12" name="Qwen背景条"/>
          <p:cNvSpPr/>
          <p:nvPr/>
        </p:nvSpPr>
        <p:spPr>
          <a:xfrm>
            <a:off x="1572768" y="2889504"/>
            <a:ext cx="4389120" cy="347472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</p:sp>
      <p:sp>
        <p:nvSpPr>
          <p:cNvPr id="13" name="Qwen数据条"/>
          <p:cNvSpPr/>
          <p:nvPr/>
        </p:nvSpPr>
        <p:spPr>
          <a:xfrm>
            <a:off x="1572768" y="2889504"/>
            <a:ext cx="1786596" cy="347472"/>
          </a:xfrm>
          <a:prstGeom prst="roundRect">
            <a:avLst/>
          </a:prstGeom>
          <a:solidFill>
            <a:srgbClr val="2563A8"/>
          </a:solidFill>
          <a:ln>
            <a:noFill/>
          </a:ln>
        </p:spPr>
      </p:sp>
      <p:sp>
        <p:nvSpPr>
          <p:cNvPr id="14" name="Qwen数值"/>
          <p:cNvSpPr/>
          <p:nvPr/>
        </p:nvSpPr>
        <p:spPr>
          <a:xfrm>
            <a:off x="6089903" y="2880360"/>
            <a:ext cx="594360" cy="34747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600" b="1">
                <a:solidFill>
                  <a:srgbClr val="2563A8"/>
                </a:solidFill>
                <a:latin typeface="Arial"/>
                <a:ea typeface="微软雅黑"/>
              </a:rPr>
              <a:t>127</a:t>
            </a:r>
            <a:endParaRPr lang="zh-CN" sz="1600"/>
          </a:p>
        </p:txBody>
      </p:sp>
      <p:sp>
        <p:nvSpPr>
          <p:cNvPr id="15" name="降幅"/>
          <p:cNvSpPr/>
          <p:nvPr/>
        </p:nvSpPr>
        <p:spPr>
          <a:xfrm>
            <a:off x="1572768" y="3401568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ctr"/>
            <a:r>
              <a:rPr lang="zh-CN" sz="1600" b="1">
                <a:solidFill>
                  <a:srgbClr val="2563A8"/>
                </a:solidFill>
                <a:latin typeface="Arial"/>
                <a:ea typeface="微软雅黑"/>
              </a:rPr>
              <a:t>减少 185 项  /  -59.3%</a:t>
            </a:r>
            <a:endParaRPr lang="zh-CN" sz="1600"/>
          </a:p>
        </p:txBody>
      </p:sp>
      <p:sp>
        <p:nvSpPr>
          <p:cNvPr id="16" name="转移标题"/>
          <p:cNvSpPr/>
          <p:nvPr/>
        </p:nvSpPr>
        <p:spPr>
          <a:xfrm>
            <a:off x="475488" y="4005072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600" b="1">
                <a:solidFill>
                  <a:srgbClr val="252B35"/>
                </a:solidFill>
                <a:latin typeface="Arial"/>
                <a:ea typeface="微软雅黑"/>
              </a:rPr>
              <a:t>至少一方判为 MISMATCH：331 个函数</a:t>
            </a:r>
            <a:endParaRPr lang="zh-CN" sz="1600"/>
          </a:p>
        </p:txBody>
      </p:sp>
      <p:sp>
        <p:nvSpPr>
          <p:cNvPr id="17" name="转移段1"/>
          <p:cNvSpPr/>
          <p:nvPr/>
        </p:nvSpPr>
        <p:spPr>
          <a:xfrm>
            <a:off x="475488" y="4434840"/>
            <a:ext cx="1843828" cy="438912"/>
          </a:xfrm>
          <a:prstGeom prst="rect">
            <a:avLst/>
          </a:prstGeom>
          <a:solidFill>
            <a:srgbClr val="8F1D1D"/>
          </a:solidFill>
          <a:ln>
            <a:noFill/>
          </a:ln>
        </p:spPr>
      </p:sp>
      <p:sp>
        <p:nvSpPr>
          <p:cNvPr id="18" name="转移段2"/>
          <p:cNvSpPr/>
          <p:nvPr/>
        </p:nvSpPr>
        <p:spPr>
          <a:xfrm>
            <a:off x="2319316" y="4434840"/>
            <a:ext cx="3482786" cy="438912"/>
          </a:xfrm>
          <a:prstGeom prst="rect">
            <a:avLst/>
          </a:prstGeom>
          <a:solidFill>
            <a:srgbClr val="D85A5A"/>
          </a:solidFill>
          <a:ln>
            <a:noFill/>
          </a:ln>
        </p:spPr>
      </p:sp>
      <p:sp>
        <p:nvSpPr>
          <p:cNvPr id="19" name="转移段3"/>
          <p:cNvSpPr/>
          <p:nvPr/>
        </p:nvSpPr>
        <p:spPr>
          <a:xfrm>
            <a:off x="5802102" y="4434840"/>
            <a:ext cx="324377" cy="438912"/>
          </a:xfrm>
          <a:prstGeom prst="rect">
            <a:avLst/>
          </a:prstGeom>
          <a:solidFill>
            <a:srgbClr val="2563A8"/>
          </a:solidFill>
          <a:ln>
            <a:noFill/>
          </a:ln>
        </p:spPr>
      </p:sp>
      <p:sp>
        <p:nvSpPr>
          <p:cNvPr id="20" name="图例点1"/>
          <p:cNvSpPr/>
          <p:nvPr/>
        </p:nvSpPr>
        <p:spPr>
          <a:xfrm>
            <a:off x="502920" y="5010912"/>
            <a:ext cx="146304" cy="146304"/>
          </a:xfrm>
          <a:prstGeom prst="roundRect">
            <a:avLst/>
          </a:prstGeom>
          <a:solidFill>
            <a:srgbClr val="8F1D1D"/>
          </a:solidFill>
          <a:ln>
            <a:noFill/>
          </a:ln>
        </p:spPr>
      </p:sp>
      <p:sp>
        <p:nvSpPr>
          <p:cNvPr id="21" name="图例1"/>
          <p:cNvSpPr/>
          <p:nvPr/>
        </p:nvSpPr>
        <p:spPr>
          <a:xfrm>
            <a:off x="713232" y="4928616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200" b="0">
                <a:solidFill>
                  <a:srgbClr val="485160"/>
                </a:solidFill>
                <a:latin typeface="Arial"/>
                <a:ea typeface="微软雅黑"/>
              </a:rPr>
              <a:t>共同 108</a:t>
            </a:r>
            <a:endParaRPr lang="zh-CN" sz="1200"/>
          </a:p>
        </p:txBody>
      </p:sp>
      <p:sp>
        <p:nvSpPr>
          <p:cNvPr id="22" name="图例点2"/>
          <p:cNvSpPr/>
          <p:nvPr/>
        </p:nvSpPr>
        <p:spPr>
          <a:xfrm>
            <a:off x="2377439" y="5010912"/>
            <a:ext cx="146304" cy="146304"/>
          </a:xfrm>
          <a:prstGeom prst="roundRect">
            <a:avLst/>
          </a:prstGeom>
          <a:solidFill>
            <a:srgbClr val="D85A5A"/>
          </a:solidFill>
          <a:ln>
            <a:noFill/>
          </a:ln>
        </p:spPr>
      </p:sp>
      <p:sp>
        <p:nvSpPr>
          <p:cNvPr id="23" name="图例2"/>
          <p:cNvSpPr/>
          <p:nvPr/>
        </p:nvSpPr>
        <p:spPr>
          <a:xfrm>
            <a:off x="2587751" y="4928616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200" b="0">
                <a:solidFill>
                  <a:srgbClr val="485160"/>
                </a:solidFill>
                <a:latin typeface="Arial"/>
                <a:ea typeface="微软雅黑"/>
              </a:rPr>
              <a:t>仅 DeepSeek 204</a:t>
            </a:r>
            <a:endParaRPr lang="zh-CN" sz="1200"/>
          </a:p>
        </p:txBody>
      </p:sp>
      <p:sp>
        <p:nvSpPr>
          <p:cNvPr id="24" name="图例点3"/>
          <p:cNvSpPr/>
          <p:nvPr/>
        </p:nvSpPr>
        <p:spPr>
          <a:xfrm>
            <a:off x="4251959" y="5010912"/>
            <a:ext cx="146304" cy="146304"/>
          </a:xfrm>
          <a:prstGeom prst="roundRect">
            <a:avLst/>
          </a:prstGeom>
          <a:solidFill>
            <a:srgbClr val="2563A8"/>
          </a:solidFill>
          <a:ln>
            <a:noFill/>
          </a:ln>
        </p:spPr>
      </p:sp>
      <p:sp>
        <p:nvSpPr>
          <p:cNvPr id="25" name="图例3"/>
          <p:cNvSpPr/>
          <p:nvPr/>
        </p:nvSpPr>
        <p:spPr>
          <a:xfrm>
            <a:off x="4462272" y="4928616"/>
            <a:ext cx="1508760" cy="310896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200" b="0">
                <a:solidFill>
                  <a:srgbClr val="485160"/>
                </a:solidFill>
                <a:latin typeface="Arial"/>
                <a:ea typeface="微软雅黑"/>
              </a:rPr>
              <a:t>仅 Qwen 19</a:t>
            </a:r>
            <a:endParaRPr lang="zh-CN" sz="1200"/>
          </a:p>
        </p:txBody>
      </p:sp>
      <p:sp>
        <p:nvSpPr>
          <p:cNvPr id="26" name="洞察卡1"/>
          <p:cNvSpPr/>
          <p:nvPr/>
        </p:nvSpPr>
        <p:spPr>
          <a:xfrm>
            <a:off x="6656832" y="1627632"/>
            <a:ext cx="4617720" cy="987552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E0E4E9"/>
            </a:solidFill>
          </a:ln>
        </p:spPr>
      </p:sp>
      <p:sp>
        <p:nvSpPr>
          <p:cNvPr id="27" name="洞察指标1"/>
          <p:cNvSpPr/>
          <p:nvPr/>
        </p:nvSpPr>
        <p:spPr>
          <a:xfrm>
            <a:off x="6876288" y="1783080"/>
            <a:ext cx="1124712" cy="43891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2200" b="1">
                <a:solidFill>
                  <a:srgbClr val="D62828"/>
                </a:solidFill>
                <a:latin typeface="Arial"/>
                <a:ea typeface="微软雅黑"/>
              </a:rPr>
              <a:t>204 → 165</a:t>
            </a:r>
            <a:endParaRPr lang="zh-CN" sz="2200"/>
          </a:p>
        </p:txBody>
      </p:sp>
      <p:sp>
        <p:nvSpPr>
          <p:cNvPr id="28" name="洞察文本1"/>
          <p:cNvSpPr/>
          <p:nvPr/>
        </p:nvSpPr>
        <p:spPr>
          <a:xfrm>
            <a:off x="8028431" y="1737360"/>
            <a:ext cx="2971800" cy="585216"/>
          </a:xfrm>
          <a:prstGeom prst="rect">
            <a:avLst/>
          </a:prstGeom>
          <a:noFill/>
          <a:ln>
            <a:noFill/>
          </a:ln>
        </p:spPr>
        <p:txBody>
          <a:bodyPr lIns="18288" tIns="18288" rIns="18288" bIns="18288" anchor="ctr" wrap="square">
            <a:spAutoFit/>
          </a:bodyPr>
          <a:lstStyle/>
          <a:p>
            <a:pPr algn="l"/>
            <a:r>
              <a:rPr lang="zh-CN" sz="1300" b="1">
                <a:solidFill>
                  <a:srgbClr val="343B47"/>
                </a:solidFill>
                <a:latin typeface="Arial"/>
                <a:ea typeface="微软雅黑"/>
              </a:rPr>
              <a:t>DeepSeek 独有项中，165 条已归为 SPEC / 推理噪声</a:t>
            </a:r>
            <a:endParaRPr lang="zh-CN" sz="1300"/>
          </a:p>
        </p:txBody>
      </p:sp>
      <p:sp>
        <p:nvSpPr>
          <p:cNvPr id="29" name="洞察卡2"/>
          <p:cNvSpPr/>
          <p:nvPr/>
        </p:nvSpPr>
        <p:spPr>
          <a:xfrm>
            <a:off x="6656832" y="2852928"/>
            <a:ext cx="4617720" cy="9875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0E4E9"/>
            </a:solidFill>
          </a:ln>
        </p:spPr>
      </p:sp>
      <p:sp>
        <p:nvSpPr>
          <p:cNvPr id="30" name="洞察指标2"/>
          <p:cNvSpPr/>
          <p:nvPr/>
        </p:nvSpPr>
        <p:spPr>
          <a:xfrm>
            <a:off x="6876288" y="3008376"/>
            <a:ext cx="1124712" cy="43891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2200" b="1">
                <a:solidFill>
                  <a:srgbClr val="2563A8"/>
                </a:solidFill>
                <a:latin typeface="Arial"/>
                <a:ea typeface="微软雅黑"/>
              </a:rPr>
              <a:t>19 → 3</a:t>
            </a:r>
            <a:endParaRPr lang="zh-CN" sz="2200"/>
          </a:p>
        </p:txBody>
      </p:sp>
      <p:sp>
        <p:nvSpPr>
          <p:cNvPr id="31" name="洞察文本2"/>
          <p:cNvSpPr/>
          <p:nvPr/>
        </p:nvSpPr>
        <p:spPr>
          <a:xfrm>
            <a:off x="8028431" y="2962656"/>
            <a:ext cx="2971800" cy="585216"/>
          </a:xfrm>
          <a:prstGeom prst="rect">
            <a:avLst/>
          </a:prstGeom>
          <a:noFill/>
          <a:ln>
            <a:noFill/>
          </a:ln>
        </p:spPr>
        <p:txBody>
          <a:bodyPr lIns="18288" tIns="18288" rIns="18288" bIns="18288" anchor="ctr" wrap="square">
            <a:spAutoFit/>
          </a:bodyPr>
          <a:lstStyle/>
          <a:p>
            <a:pPr algn="l"/>
            <a:r>
              <a:rPr lang="zh-CN" sz="1300" b="1">
                <a:solidFill>
                  <a:srgbClr val="343B47"/>
                </a:solidFill>
                <a:latin typeface="Arial"/>
                <a:ea typeface="微软雅黑"/>
              </a:rPr>
              <a:t>Qwen 独有的 19 项中，仅 3 项确认实现缺陷</a:t>
            </a:r>
            <a:endParaRPr lang="zh-CN" sz="1300"/>
          </a:p>
        </p:txBody>
      </p:sp>
      <p:sp>
        <p:nvSpPr>
          <p:cNvPr id="32" name="洞察卡3"/>
          <p:cNvSpPr/>
          <p:nvPr/>
        </p:nvSpPr>
        <p:spPr>
          <a:xfrm>
            <a:off x="6656832" y="4078224"/>
            <a:ext cx="4617720" cy="987552"/>
          </a:xfrm>
          <a:prstGeom prst="roundRect">
            <a:avLst/>
          </a:prstGeom>
          <a:solidFill>
            <a:srgbClr val="F4F8F3"/>
          </a:solidFill>
          <a:ln w="12700">
            <a:solidFill>
              <a:srgbClr val="E0E4E9"/>
            </a:solidFill>
          </a:ln>
        </p:spPr>
      </p:sp>
      <p:sp>
        <p:nvSpPr>
          <p:cNvPr id="33" name="洞察指标3"/>
          <p:cNvSpPr/>
          <p:nvPr/>
        </p:nvSpPr>
        <p:spPr>
          <a:xfrm>
            <a:off x="6876288" y="4233672"/>
            <a:ext cx="1124712" cy="43891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2200" b="1">
                <a:solidFill>
                  <a:srgbClr val="2F7D32"/>
                </a:solidFill>
                <a:latin typeface="Arial"/>
                <a:ea typeface="微软雅黑"/>
              </a:rPr>
              <a:t>038</a:t>
            </a:r>
            <a:endParaRPr lang="zh-CN" sz="2200"/>
          </a:p>
        </p:txBody>
      </p:sp>
      <p:sp>
        <p:nvSpPr>
          <p:cNvPr id="34" name="洞察文本3"/>
          <p:cNvSpPr/>
          <p:nvPr/>
        </p:nvSpPr>
        <p:spPr>
          <a:xfrm>
            <a:off x="8028431" y="4187952"/>
            <a:ext cx="2971800" cy="585216"/>
          </a:xfrm>
          <a:prstGeom prst="rect">
            <a:avLst/>
          </a:prstGeom>
          <a:noFill/>
          <a:ln>
            <a:noFill/>
          </a:ln>
        </p:spPr>
        <p:txBody>
          <a:bodyPr lIns="18288" tIns="18288" rIns="18288" bIns="18288" anchor="ctr" wrap="square">
            <a:spAutoFit/>
          </a:bodyPr>
          <a:lstStyle/>
          <a:p>
            <a:pPr algn="l"/>
            <a:r>
              <a:rPr lang="zh-CN" sz="1300" b="1">
                <a:solidFill>
                  <a:srgbClr val="343B47"/>
                </a:solidFill>
                <a:latin typeface="Arial"/>
                <a:ea typeface="微软雅黑"/>
              </a:rPr>
              <a:t>DeepSeek 报 MISMATCH；Qwen 报 MATCH；probe 确认真实 Bug</a:t>
            </a:r>
            <a:endParaRPr lang="zh-CN" sz="1300"/>
          </a:p>
        </p:txBody>
      </p:sp>
      <p:sp>
        <p:nvSpPr>
          <p:cNvPr id="35" name="独特洞察框"/>
          <p:cNvSpPr/>
          <p:nvPr/>
        </p:nvSpPr>
        <p:spPr>
          <a:xfrm>
            <a:off x="6656832" y="5340096"/>
            <a:ext cx="4617720" cy="621792"/>
          </a:xfrm>
          <a:prstGeom prst="roundRect">
            <a:avLst/>
          </a:prstGeom>
          <a:solidFill>
            <a:srgbClr val="2A303B"/>
          </a:solidFill>
          <a:ln>
            <a:noFill/>
          </a:ln>
        </p:spPr>
      </p:sp>
      <p:sp>
        <p:nvSpPr>
          <p:cNvPr id="36" name="独特洞察"/>
          <p:cNvSpPr/>
          <p:nvPr/>
        </p:nvSpPr>
        <p:spPr>
          <a:xfrm>
            <a:off x="6839712" y="5431536"/>
            <a:ext cx="4251960" cy="356616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Arial"/>
                <a:ea typeface="微软雅黑"/>
              </a:rPr>
              <a:t>INSIGHT｜较少的 MISMATCH 代表更强自洽性，不等同于更高准确率。</a:t>
            </a:r>
            <a:endParaRPr lang="zh-CN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标题"/>
          <p:cNvSpPr/>
          <p:nvPr/>
        </p:nvSpPr>
        <p:spPr>
          <a:xfrm>
            <a:off x="256032" y="54864"/>
            <a:ext cx="6675120" cy="329184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Arial"/>
                <a:ea typeface="微软雅黑"/>
              </a:rPr>
              <a:t>实际 Bug 与下一步</a:t>
            </a:r>
            <a:endParaRPr lang="zh-CN" sz="2200"/>
          </a:p>
        </p:txBody>
      </p:sp>
      <p:sp>
        <p:nvSpPr>
          <p:cNvPr id="3" name="页眉标签"/>
          <p:cNvSpPr/>
          <p:nvPr/>
        </p:nvSpPr>
        <p:spPr>
          <a:xfrm>
            <a:off x="9464040" y="7315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r"/>
            <a:r>
              <a:rPr lang="zh-CN" sz="1100" b="1">
                <a:solidFill>
                  <a:srgbClr val="FFFFFF"/>
                </a:solidFill>
                <a:latin typeface="Arial"/>
                <a:ea typeface="微软雅黑"/>
              </a:rPr>
              <a:t>FINDINGS &amp; ACTIONS</a:t>
            </a:r>
            <a:endParaRPr lang="zh-CN" sz="1100"/>
          </a:p>
        </p:txBody>
      </p:sp>
      <p:sp>
        <p:nvSpPr>
          <p:cNvPr id="4" name="页面标题"/>
          <p:cNvSpPr/>
          <p:nvPr/>
        </p:nvSpPr>
        <p:spPr>
          <a:xfrm>
            <a:off x="438912" y="694944"/>
            <a:ext cx="9784080" cy="475488"/>
          </a:xfrm>
          <a:prstGeom prst="rect">
            <a:avLst/>
          </a:prstGeom>
          <a:noFill/>
          <a:ln>
            <a:noFill/>
          </a:ln>
        </p:spPr>
        <p:txBody>
          <a:bodyPr lIns="18288" tIns="18288" rIns="18288" bIns="18288" anchor="ctr" wrap="square">
            <a:spAutoFit/>
          </a:bodyPr>
          <a:lstStyle/>
          <a:p>
            <a:pPr algn="l"/>
            <a:r>
              <a:rPr lang="zh-CN" sz="2700" b="1">
                <a:solidFill>
                  <a:srgbClr val="1A1F2B"/>
                </a:solidFill>
                <a:latin typeface="Arial"/>
                <a:ea typeface="微软雅黑"/>
              </a:rPr>
              <a:t>高价值问题集中在“模型输出 → 持久化状态”边界</a:t>
            </a:r>
            <a:endParaRPr lang="zh-CN" sz="2700"/>
          </a:p>
        </p:txBody>
      </p:sp>
      <p:sp>
        <p:nvSpPr>
          <p:cNvPr id="5" name="页面副标题"/>
          <p:cNvSpPr/>
          <p:nvPr/>
        </p:nvSpPr>
        <p:spPr>
          <a:xfrm>
            <a:off x="457200" y="1170432"/>
            <a:ext cx="9509760" cy="27432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400" b="0">
                <a:solidFill>
                  <a:srgbClr val="687181"/>
                </a:solidFill>
                <a:latin typeface="Arial"/>
                <a:ea typeface="微软雅黑"/>
              </a:rPr>
              <a:t>结果缺失、数据覆盖和状态误报，会直接影响验证完整性</a:t>
            </a:r>
            <a:endParaRPr lang="zh-CN" sz="1400"/>
          </a:p>
        </p:txBody>
      </p:sp>
      <p:sp>
        <p:nvSpPr>
          <p:cNvPr id="6" name="问题卡1"/>
          <p:cNvSpPr/>
          <p:nvPr/>
        </p:nvSpPr>
        <p:spPr>
          <a:xfrm>
            <a:off x="475488" y="1664208"/>
            <a:ext cx="7333488" cy="768096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E2E5E9"/>
            </a:solidFill>
          </a:ln>
        </p:spPr>
      </p:sp>
      <p:sp>
        <p:nvSpPr>
          <p:cNvPr id="7" name="问题序号1"/>
          <p:cNvSpPr/>
          <p:nvPr/>
        </p:nvSpPr>
        <p:spPr>
          <a:xfrm>
            <a:off x="658368" y="1819656"/>
            <a:ext cx="438912" cy="438912"/>
          </a:xfrm>
          <a:prstGeom prst="roundRect">
            <a:avLst/>
          </a:prstGeom>
          <a:solidFill>
            <a:srgbClr val="D62828"/>
          </a:solidFill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Arial"/>
                <a:ea typeface="微软雅黑"/>
              </a:rPr>
              <a:t>01</a:t>
            </a:r>
            <a:endParaRPr lang="zh-CN" sz="1200"/>
          </a:p>
        </p:txBody>
      </p:sp>
      <p:sp>
        <p:nvSpPr>
          <p:cNvPr id="8" name="问题标题1"/>
          <p:cNvSpPr/>
          <p:nvPr/>
        </p:nvSpPr>
        <p:spPr>
          <a:xfrm>
            <a:off x="1261872" y="1773936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500" b="1">
                <a:solidFill>
                  <a:srgbClr val="232A34"/>
                </a:solidFill>
                <a:latin typeface="Arial"/>
                <a:ea typeface="微软雅黑"/>
              </a:rPr>
              <a:t>递归重入</a:t>
            </a:r>
            <a:endParaRPr lang="zh-CN" sz="1500"/>
          </a:p>
        </p:txBody>
      </p:sp>
      <p:sp>
        <p:nvSpPr>
          <p:cNvPr id="9" name="问题影响1"/>
          <p:cNvSpPr/>
          <p:nvPr/>
        </p:nvSpPr>
        <p:spPr>
          <a:xfrm>
            <a:off x="2633472" y="175564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300" b="0">
                <a:solidFill>
                  <a:srgbClr val="3F4754"/>
                </a:solidFill>
                <a:latin typeface="Arial"/>
                <a:ea typeface="微软雅黑"/>
              </a:rPr>
              <a:t>Validator 进入活动仓库，导致 fm_agent/ 工作目录被重建</a:t>
            </a:r>
            <a:endParaRPr lang="zh-CN" sz="1300"/>
          </a:p>
        </p:txBody>
      </p:sp>
      <p:sp>
        <p:nvSpPr>
          <p:cNvPr id="10" name="问题动作1"/>
          <p:cNvSpPr/>
          <p:nvPr/>
        </p:nvSpPr>
        <p:spPr>
          <a:xfrm>
            <a:off x="2633472" y="205740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200" b="1">
                <a:solidFill>
                  <a:srgbClr val="A02020"/>
                </a:solidFill>
                <a:latin typeface="Arial"/>
                <a:ea typeface="微软雅黑"/>
              </a:rPr>
              <a:t>动作：已增加 self-validation guard</a:t>
            </a:r>
            <a:endParaRPr lang="zh-CN" sz="1200"/>
          </a:p>
        </p:txBody>
      </p:sp>
      <p:sp>
        <p:nvSpPr>
          <p:cNvPr id="11" name="问题卡2"/>
          <p:cNvSpPr/>
          <p:nvPr/>
        </p:nvSpPr>
        <p:spPr>
          <a:xfrm>
            <a:off x="475488" y="2615184"/>
            <a:ext cx="7333488" cy="768096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E2E5E9"/>
            </a:solidFill>
          </a:ln>
        </p:spPr>
      </p:sp>
      <p:sp>
        <p:nvSpPr>
          <p:cNvPr id="12" name="问题序号2"/>
          <p:cNvSpPr/>
          <p:nvPr/>
        </p:nvSpPr>
        <p:spPr>
          <a:xfrm>
            <a:off x="658368" y="2770632"/>
            <a:ext cx="438912" cy="438912"/>
          </a:xfrm>
          <a:prstGeom prst="roundRect">
            <a:avLst/>
          </a:prstGeom>
          <a:solidFill>
            <a:srgbClr val="D62828"/>
          </a:solidFill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Arial"/>
                <a:ea typeface="微软雅黑"/>
              </a:rPr>
              <a:t>02</a:t>
            </a:r>
            <a:endParaRPr lang="zh-CN" sz="1200"/>
          </a:p>
        </p:txBody>
      </p:sp>
      <p:sp>
        <p:nvSpPr>
          <p:cNvPr id="13" name="问题标题2"/>
          <p:cNvSpPr/>
          <p:nvPr/>
        </p:nvSpPr>
        <p:spPr>
          <a:xfrm>
            <a:off x="1261872" y="272491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500" b="1">
                <a:solidFill>
                  <a:srgbClr val="232A34"/>
                </a:solidFill>
                <a:latin typeface="Arial"/>
                <a:ea typeface="微软雅黑"/>
              </a:rPr>
              <a:t>状态折叠</a:t>
            </a:r>
            <a:endParaRPr lang="zh-CN" sz="1500"/>
          </a:p>
        </p:txBody>
      </p:sp>
      <p:sp>
        <p:nvSpPr>
          <p:cNvPr id="14" name="问题影响2"/>
          <p:cNvSpPr/>
          <p:nvPr/>
        </p:nvSpPr>
        <p:spPr>
          <a:xfrm>
            <a:off x="2633472" y="2706624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300" b="0">
                <a:solidFill>
                  <a:srgbClr val="3F4754"/>
                </a:solidFill>
                <a:latin typeface="Arial"/>
                <a:ea typeface="微软雅黑"/>
              </a:rPr>
              <a:t>生成失败与正常跳过共用 None，新函数可能静默漏验</a:t>
            </a:r>
            <a:endParaRPr lang="zh-CN" sz="1300"/>
          </a:p>
        </p:txBody>
      </p:sp>
      <p:sp>
        <p:nvSpPr>
          <p:cNvPr id="15" name="问题动作2"/>
          <p:cNvSpPr/>
          <p:nvPr/>
        </p:nvSpPr>
        <p:spPr>
          <a:xfrm>
            <a:off x="2633472" y="3008376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200" b="1">
                <a:solidFill>
                  <a:srgbClr val="A02020"/>
                </a:solidFill>
                <a:latin typeface="Arial"/>
                <a:ea typeface="微软雅黑"/>
              </a:rPr>
              <a:t>动作：返回结构化状态并阻止成功收尾</a:t>
            </a:r>
            <a:endParaRPr lang="zh-CN" sz="1200"/>
          </a:p>
        </p:txBody>
      </p:sp>
      <p:sp>
        <p:nvSpPr>
          <p:cNvPr id="16" name="问题卡3"/>
          <p:cNvSpPr/>
          <p:nvPr/>
        </p:nvSpPr>
        <p:spPr>
          <a:xfrm>
            <a:off x="475488" y="3566160"/>
            <a:ext cx="7333488" cy="768096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2E5E9"/>
            </a:solidFill>
          </a:ln>
        </p:spPr>
      </p:sp>
      <p:sp>
        <p:nvSpPr>
          <p:cNvPr id="17" name="问题序号3"/>
          <p:cNvSpPr/>
          <p:nvPr/>
        </p:nvSpPr>
        <p:spPr>
          <a:xfrm>
            <a:off x="658368" y="3721608"/>
            <a:ext cx="438912" cy="438912"/>
          </a:xfrm>
          <a:prstGeom prst="roundRect">
            <a:avLst/>
          </a:prstGeom>
          <a:solidFill>
            <a:srgbClr val="D62828"/>
          </a:solidFill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Arial"/>
                <a:ea typeface="微软雅黑"/>
              </a:rPr>
              <a:t>03</a:t>
            </a:r>
            <a:endParaRPr lang="zh-CN" sz="1200"/>
          </a:p>
        </p:txBody>
      </p:sp>
      <p:sp>
        <p:nvSpPr>
          <p:cNvPr id="18" name="问题标题3"/>
          <p:cNvSpPr/>
          <p:nvPr/>
        </p:nvSpPr>
        <p:spPr>
          <a:xfrm>
            <a:off x="1261872" y="367588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500" b="1">
                <a:solidFill>
                  <a:srgbClr val="232A34"/>
                </a:solidFill>
                <a:latin typeface="Arial"/>
                <a:ea typeface="微软雅黑"/>
              </a:rPr>
              <a:t>覆盖写入</a:t>
            </a:r>
            <a:endParaRPr lang="zh-CN" sz="1500"/>
          </a:p>
        </p:txBody>
      </p:sp>
      <p:sp>
        <p:nvSpPr>
          <p:cNvPr id="19" name="问题影响3"/>
          <p:cNvSpPr/>
          <p:nvPr/>
        </p:nvSpPr>
        <p:spPr>
          <a:xfrm>
            <a:off x="2633472" y="36576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300" b="0">
                <a:solidFill>
                  <a:srgbClr val="3F4754"/>
                </a:solidFill>
                <a:latin typeface="Arial"/>
                <a:ea typeface="微软雅黑"/>
              </a:rPr>
              <a:t>局部 new_info 覆盖完整 sidecar，其他 callee 条目丢失</a:t>
            </a:r>
            <a:endParaRPr lang="zh-CN" sz="1300"/>
          </a:p>
        </p:txBody>
      </p:sp>
      <p:sp>
        <p:nvSpPr>
          <p:cNvPr id="20" name="问题动作3"/>
          <p:cNvSpPr/>
          <p:nvPr/>
        </p:nvSpPr>
        <p:spPr>
          <a:xfrm>
            <a:off x="2633472" y="3959352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200" b="1">
                <a:solidFill>
                  <a:srgbClr val="A02020"/>
                </a:solidFill>
                <a:latin typeface="Arial"/>
                <a:ea typeface="微软雅黑"/>
              </a:rPr>
              <a:t>动作：按 callee 合并并校验完整性</a:t>
            </a:r>
            <a:endParaRPr lang="zh-CN" sz="1200"/>
          </a:p>
        </p:txBody>
      </p:sp>
      <p:sp>
        <p:nvSpPr>
          <p:cNvPr id="21" name="问题卡4"/>
          <p:cNvSpPr/>
          <p:nvPr/>
        </p:nvSpPr>
        <p:spPr>
          <a:xfrm>
            <a:off x="475488" y="4517136"/>
            <a:ext cx="7333488" cy="768096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2E5E9"/>
            </a:solidFill>
          </a:ln>
        </p:spPr>
      </p:sp>
      <p:sp>
        <p:nvSpPr>
          <p:cNvPr id="22" name="问题序号4"/>
          <p:cNvSpPr/>
          <p:nvPr/>
        </p:nvSpPr>
        <p:spPr>
          <a:xfrm>
            <a:off x="658368" y="4672584"/>
            <a:ext cx="438912" cy="438912"/>
          </a:xfrm>
          <a:prstGeom prst="roundRect">
            <a:avLst/>
          </a:prstGeom>
          <a:solidFill>
            <a:srgbClr val="D62828"/>
          </a:solidFill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Arial"/>
                <a:ea typeface="微软雅黑"/>
              </a:rPr>
              <a:t>04</a:t>
            </a:r>
            <a:endParaRPr lang="zh-CN" sz="1200"/>
          </a:p>
        </p:txBody>
      </p:sp>
      <p:sp>
        <p:nvSpPr>
          <p:cNvPr id="23" name="问题标题4"/>
          <p:cNvSpPr/>
          <p:nvPr/>
        </p:nvSpPr>
        <p:spPr>
          <a:xfrm>
            <a:off x="1261872" y="4626864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500" b="1">
                <a:solidFill>
                  <a:srgbClr val="232A34"/>
                </a:solidFill>
                <a:latin typeface="Arial"/>
                <a:ea typeface="微软雅黑"/>
              </a:rPr>
              <a:t>分块错误</a:t>
            </a:r>
            <a:endParaRPr lang="zh-CN" sz="1500"/>
          </a:p>
        </p:txBody>
      </p:sp>
      <p:sp>
        <p:nvSpPr>
          <p:cNvPr id="24" name="问题影响4"/>
          <p:cNvSpPr/>
          <p:nvPr/>
        </p:nvSpPr>
        <p:spPr>
          <a:xfrm>
            <a:off x="2633472" y="4608576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300" b="0">
                <a:solidFill>
                  <a:srgbClr val="3F4754"/>
                </a:solidFill>
                <a:latin typeface="Arial"/>
                <a:ea typeface="微软雅黑"/>
              </a:rPr>
              <a:t>跨行注释中的括号污染深度，LLM 接收到不完整代码</a:t>
            </a:r>
            <a:endParaRPr lang="zh-CN" sz="1300"/>
          </a:p>
        </p:txBody>
      </p:sp>
      <p:sp>
        <p:nvSpPr>
          <p:cNvPr id="25" name="问题动作4"/>
          <p:cNvSpPr/>
          <p:nvPr/>
        </p:nvSpPr>
        <p:spPr>
          <a:xfrm>
            <a:off x="2633472" y="491032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200" b="1">
                <a:solidFill>
                  <a:srgbClr val="A02020"/>
                </a:solidFill>
                <a:latin typeface="Arial"/>
                <a:ea typeface="微软雅黑"/>
              </a:rPr>
              <a:t>动作：引入跨行词法状态或 parser</a:t>
            </a:r>
            <a:endParaRPr lang="zh-CN" sz="1200"/>
          </a:p>
        </p:txBody>
      </p:sp>
      <p:sp>
        <p:nvSpPr>
          <p:cNvPr id="26" name="右侧框"/>
          <p:cNvSpPr/>
          <p:nvPr/>
        </p:nvSpPr>
        <p:spPr>
          <a:xfrm>
            <a:off x="8156448" y="1664208"/>
            <a:ext cx="3127248" cy="385876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FE3E8"/>
            </a:solidFill>
          </a:ln>
        </p:spPr>
      </p:sp>
      <p:sp>
        <p:nvSpPr>
          <p:cNvPr id="27" name="优先级标题"/>
          <p:cNvSpPr/>
          <p:nvPr/>
        </p:nvSpPr>
        <p:spPr>
          <a:xfrm>
            <a:off x="8412480" y="190195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800" b="1">
                <a:solidFill>
                  <a:srgbClr val="1F2630"/>
                </a:solidFill>
                <a:latin typeface="Arial"/>
                <a:ea typeface="微软雅黑"/>
              </a:rPr>
              <a:t>下周优先级</a:t>
            </a:r>
            <a:endParaRPr lang="zh-CN" sz="1800"/>
          </a:p>
        </p:txBody>
      </p:sp>
      <p:sp>
        <p:nvSpPr>
          <p:cNvPr id="28" name="优先级1"/>
          <p:cNvSpPr/>
          <p:nvPr/>
        </p:nvSpPr>
        <p:spPr>
          <a:xfrm>
            <a:off x="8412480" y="2450592"/>
            <a:ext cx="475488" cy="292608"/>
          </a:xfrm>
          <a:prstGeom prst="roundRect">
            <a:avLst/>
          </a:prstGeom>
          <a:solidFill>
            <a:srgbClr val="D62828"/>
          </a:solidFill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Arial"/>
                <a:ea typeface="微软雅黑"/>
              </a:rPr>
              <a:t>P0</a:t>
            </a:r>
            <a:endParaRPr lang="zh-CN" sz="1000"/>
          </a:p>
        </p:txBody>
      </p:sp>
      <p:sp>
        <p:nvSpPr>
          <p:cNvPr id="29" name="优先事项1"/>
          <p:cNvSpPr/>
          <p:nvPr/>
        </p:nvSpPr>
        <p:spPr>
          <a:xfrm>
            <a:off x="9006840" y="2441448"/>
            <a:ext cx="1938528" cy="34747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300" b="1">
                <a:solidFill>
                  <a:srgbClr val="343B47"/>
                </a:solidFill>
                <a:latin typeface="Arial"/>
                <a:ea typeface="微软雅黑"/>
              </a:rPr>
              <a:t>补齐 sidecar 完整性门禁</a:t>
            </a:r>
            <a:endParaRPr lang="zh-CN" sz="1300"/>
          </a:p>
        </p:txBody>
      </p:sp>
      <p:sp>
        <p:nvSpPr>
          <p:cNvPr id="30" name="优先级2"/>
          <p:cNvSpPr/>
          <p:nvPr/>
        </p:nvSpPr>
        <p:spPr>
          <a:xfrm>
            <a:off x="8412480" y="3072384"/>
            <a:ext cx="475488" cy="292608"/>
          </a:xfrm>
          <a:prstGeom prst="roundRect">
            <a:avLst/>
          </a:prstGeom>
          <a:solidFill>
            <a:srgbClr val="D62828"/>
          </a:solidFill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Arial"/>
                <a:ea typeface="微软雅黑"/>
              </a:rPr>
              <a:t>P0</a:t>
            </a:r>
            <a:endParaRPr lang="zh-CN" sz="1000"/>
          </a:p>
        </p:txBody>
      </p:sp>
      <p:sp>
        <p:nvSpPr>
          <p:cNvPr id="31" name="优先事项2"/>
          <p:cNvSpPr/>
          <p:nvPr/>
        </p:nvSpPr>
        <p:spPr>
          <a:xfrm>
            <a:off x="9006840" y="3063240"/>
            <a:ext cx="1938528" cy="34747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300" b="1">
                <a:solidFill>
                  <a:srgbClr val="343B47"/>
                </a:solidFill>
                <a:latin typeface="Arial"/>
                <a:ea typeface="微软雅黑"/>
              </a:rPr>
              <a:t>区分 updated / skipped / failed</a:t>
            </a:r>
            <a:endParaRPr lang="zh-CN" sz="1300"/>
          </a:p>
        </p:txBody>
      </p:sp>
      <p:sp>
        <p:nvSpPr>
          <p:cNvPr id="32" name="优先级3"/>
          <p:cNvSpPr/>
          <p:nvPr/>
        </p:nvSpPr>
        <p:spPr>
          <a:xfrm>
            <a:off x="8412480" y="3694176"/>
            <a:ext cx="475488" cy="292608"/>
          </a:xfrm>
          <a:prstGeom prst="roundRect">
            <a:avLst/>
          </a:prstGeom>
          <a:solidFill>
            <a:srgbClr val="2563A8"/>
          </a:solidFill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Arial"/>
                <a:ea typeface="微软雅黑"/>
              </a:rPr>
              <a:t>P1</a:t>
            </a:r>
            <a:endParaRPr lang="zh-CN" sz="1000"/>
          </a:p>
        </p:txBody>
      </p:sp>
      <p:sp>
        <p:nvSpPr>
          <p:cNvPr id="33" name="优先事项3"/>
          <p:cNvSpPr/>
          <p:nvPr/>
        </p:nvSpPr>
        <p:spPr>
          <a:xfrm>
            <a:off x="9006840" y="3685032"/>
            <a:ext cx="1938528" cy="34747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300" b="1">
                <a:solidFill>
                  <a:srgbClr val="343B47"/>
                </a:solidFill>
                <a:latin typeface="Arial"/>
                <a:ea typeface="微软雅黑"/>
              </a:rPr>
              <a:t>修复 Reasoner 分块词法状态</a:t>
            </a:r>
            <a:endParaRPr lang="zh-CN" sz="1300"/>
          </a:p>
        </p:txBody>
      </p:sp>
      <p:sp>
        <p:nvSpPr>
          <p:cNvPr id="34" name="优先级4"/>
          <p:cNvSpPr/>
          <p:nvPr/>
        </p:nvSpPr>
        <p:spPr>
          <a:xfrm>
            <a:off x="8412480" y="4315968"/>
            <a:ext cx="475488" cy="292608"/>
          </a:xfrm>
          <a:prstGeom prst="roundRect">
            <a:avLst/>
          </a:prstGeom>
          <a:solidFill>
            <a:srgbClr val="2563A8"/>
          </a:solidFill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Arial"/>
                <a:ea typeface="微软雅黑"/>
              </a:rPr>
              <a:t>P1</a:t>
            </a:r>
            <a:endParaRPr lang="zh-CN" sz="1000"/>
          </a:p>
        </p:txBody>
      </p:sp>
      <p:sp>
        <p:nvSpPr>
          <p:cNvPr id="35" name="优先事项4"/>
          <p:cNvSpPr/>
          <p:nvPr/>
        </p:nvSpPr>
        <p:spPr>
          <a:xfrm>
            <a:off x="9006840" y="4306824"/>
            <a:ext cx="1938528" cy="347472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l"/>
            <a:r>
              <a:rPr lang="zh-CN" sz="1300" b="1">
                <a:solidFill>
                  <a:srgbClr val="343B47"/>
                </a:solidFill>
                <a:latin typeface="Arial"/>
                <a:ea typeface="微软雅黑"/>
              </a:rPr>
              <a:t>将共同根因转成回归测试</a:t>
            </a:r>
            <a:endParaRPr lang="zh-CN" sz="1300"/>
          </a:p>
        </p:txBody>
      </p:sp>
      <p:sp>
        <p:nvSpPr>
          <p:cNvPr id="36" name="证据原则框"/>
          <p:cNvSpPr/>
          <p:nvPr/>
        </p:nvSpPr>
        <p:spPr>
          <a:xfrm>
            <a:off x="8412480" y="4937760"/>
            <a:ext cx="254203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  <p:txBody>
          <a:bodyPr lIns="18288" tIns="18288" rIns="18288" bIns="18288" anchor="ctr" wrap="square">
            <a:spAutoFit/>
          </a:bodyPr>
          <a:lstStyle/>
          <a:p>
            <a:pPr algn="ctr"/>
            <a:r>
              <a:rPr lang="zh-CN" sz="1100" b="1">
                <a:solidFill>
                  <a:srgbClr val="4A5260"/>
                </a:solidFill>
                <a:latin typeface="Arial"/>
                <a:ea typeface="微软雅黑"/>
              </a:rPr>
              <a:t>证据原则：共同根因优先；单模型结论独立复核</a:t>
            </a:r>
            <a:endParaRPr lang="zh-CN" sz="1100"/>
          </a:p>
        </p:txBody>
      </p:sp>
      <p:sp>
        <p:nvSpPr>
          <p:cNvPr id="37" name="底部结论框"/>
          <p:cNvSpPr/>
          <p:nvPr/>
        </p:nvSpPr>
        <p:spPr>
          <a:xfrm>
            <a:off x="475488" y="5715000"/>
            <a:ext cx="10808208" cy="475488"/>
          </a:xfrm>
          <a:prstGeom prst="roundRect">
            <a:avLst/>
          </a:prstGeom>
          <a:solidFill>
            <a:srgbClr val="2A303B"/>
          </a:solidFill>
          <a:ln>
            <a:noFill/>
          </a:ln>
        </p:spPr>
      </p:sp>
      <p:sp>
        <p:nvSpPr>
          <p:cNvPr id="38" name="底部结论"/>
          <p:cNvSpPr/>
          <p:nvPr/>
        </p:nvSpPr>
        <p:spPr>
          <a:xfrm>
            <a:off x="694944" y="5779008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lIns="9144" tIns="9144" rIns="9144" bIns="9144" anchor="ctr" wrap="square">
            <a:spAutoFit/>
          </a:bodyPr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Arial"/>
                <a:ea typeface="微软雅黑"/>
              </a:rPr>
              <a:t>本周结论｜优先修复会造成漏验、数据丢失和错误成功状态的问题。</a:t>
            </a:r>
            <a:endParaRPr lang="zh-CN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27</Words>
  <Application>Microsoft Office PowerPoint</Application>
  <PresentationFormat>宽屏</PresentationFormat>
  <Paragraphs>7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Innocence Francis</dc:creator>
  <cp:lastModifiedBy>Innocence Francis</cp:lastModifiedBy>
  <cp:revision>6</cp:revision>
  <dcterms:created xsi:type="dcterms:W3CDTF">2026-08-10T13:00:36Z</dcterms:created>
  <dcterms:modified xsi:type="dcterms:W3CDTF">2026-08-17T07:10:39Z</dcterms:modified>
</cp:coreProperties>
</file>